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Shape 1"/>
          <p:cNvSpPr/>
          <p:nvPr/>
        </p:nvSpPr>
        <p:spPr>
          <a:xfrm>
            <a:off x="6583680" y="-914400"/>
            <a:ext cx="4114800" cy="4114800"/>
          </a:xfrm>
          <a:prstGeom prst="ellipse">
            <a:avLst/>
          </a:prstGeom>
          <a:solidFill>
            <a:srgbClr val="0E3460"/>
          </a:solidFill>
          <a:ln w="12700">
            <a:solidFill>
              <a:srgbClr val="0E34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-365760"/>
            <a:ext cx="2926080" cy="2926080"/>
          </a:xfrm>
          <a:prstGeom prst="ellipse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548640"/>
            <a:ext cx="1280160" cy="1280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8229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Security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457200" y="16002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Agent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457200" y="2514600"/>
            <a:ext cx="5029200" cy="22860"/>
          </a:xfrm>
          <a:prstGeom prst="rect">
            <a:avLst/>
          </a:prstGeom>
          <a:solidFill>
            <a:srgbClr val="0099BB"/>
          </a:solidFill>
          <a:ln w="12700">
            <a:solidFill>
              <a:srgbClr val="0099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2651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threat detection using Bayesian Networks + Machine Learning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3383280"/>
            <a:ext cx="1920240" cy="347472"/>
          </a:xfrm>
          <a:prstGeom prst="roundRect">
            <a:avLst>
              <a:gd name="adj" fmla="val 21053"/>
            </a:avLst>
          </a:prstGeom>
          <a:solidFill>
            <a:srgbClr val="0E3460"/>
          </a:solidFill>
          <a:ln w="12700">
            <a:solidFill>
              <a:srgbClr val="0099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Networks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560320" y="3383280"/>
            <a:ext cx="1920240" cy="347472"/>
          </a:xfrm>
          <a:prstGeom prst="roundRect">
            <a:avLst>
              <a:gd name="adj" fmla="val 21053"/>
            </a:avLst>
          </a:prstGeom>
          <a:solidFill>
            <a:srgbClr val="0E3460"/>
          </a:solidFill>
          <a:ln w="12700">
            <a:solidFill>
              <a:srgbClr val="0099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603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663440" y="3383280"/>
            <a:ext cx="1920240" cy="347472"/>
          </a:xfrm>
          <a:prstGeom prst="roundRect">
            <a:avLst>
              <a:gd name="adj" fmla="val 21053"/>
            </a:avLst>
          </a:prstGeom>
          <a:solidFill>
            <a:srgbClr val="0E3460"/>
          </a:solidFill>
          <a:ln w="12700">
            <a:solidFill>
              <a:srgbClr val="0099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6344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766560" y="3383280"/>
            <a:ext cx="1920240" cy="347472"/>
          </a:xfrm>
          <a:prstGeom prst="roundRect">
            <a:avLst>
              <a:gd name="adj" fmla="val 21053"/>
            </a:avLst>
          </a:prstGeom>
          <a:solidFill>
            <a:srgbClr val="0E3460"/>
          </a:solidFill>
          <a:ln w="12700">
            <a:solidFill>
              <a:srgbClr val="0099B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3547 – Intelligent Agents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Toronto  ·  School of Continuing Studies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0" y="164592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0E3460"/>
          </a:solidFill>
          <a:ln w="12700">
            <a:solidFill>
              <a:srgbClr val="0099B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64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2743200" cy="2103120"/>
          </a:xfrm>
          <a:prstGeom prst="rect">
            <a:avLst/>
          </a:prstGeom>
          <a:solidFill>
            <a:srgbClr val="112240"/>
          </a:solidFill>
          <a:ln w="12700">
            <a:solidFill>
              <a:srgbClr val="0E34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1024128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153619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11480" y="1901952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log events per day — impossible to review manually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64408" y="914400"/>
            <a:ext cx="2743200" cy="2103120"/>
          </a:xfrm>
          <a:prstGeom prst="rect">
            <a:avLst/>
          </a:prstGeom>
          <a:solidFill>
            <a:srgbClr val="112240"/>
          </a:solidFill>
          <a:ln w="12700">
            <a:solidFill>
              <a:srgbClr val="0E34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4136" y="1024128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55848" y="153619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355848" y="1901952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unfold in seconds; human response takes minutes to hours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08776" y="914400"/>
            <a:ext cx="2743200" cy="2103120"/>
          </a:xfrm>
          <a:prstGeom prst="rect">
            <a:avLst/>
          </a:prstGeom>
          <a:solidFill>
            <a:srgbClr val="112240"/>
          </a:solidFill>
          <a:ln w="12700">
            <a:solidFill>
              <a:srgbClr val="0E34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02412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00216" y="153619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6300216" y="1901952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false alerts cause analysts to miss real threats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20040" y="3218688"/>
            <a:ext cx="8503920" cy="1481328"/>
          </a:xfrm>
          <a:prstGeom prst="rect">
            <a:avLst/>
          </a:prstGeom>
          <a:solidFill>
            <a:srgbClr val="0E3460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337560"/>
            <a:ext cx="640080" cy="64008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34440" y="32918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1234440" y="365760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intelligent agent that monitors network logs, reasons about threats using Bayesian Networks + Machine Learning, and takes calibrated security actions — reducing analyst workload and response time.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0" y="164592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0E3460"/>
          </a:solidFill>
          <a:ln w="12700">
            <a:solidFill>
              <a:srgbClr val="0099B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64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389888" cy="1920240"/>
          </a:xfrm>
          <a:prstGeom prst="rect">
            <a:avLst/>
          </a:prstGeom>
          <a:solidFill>
            <a:srgbClr val="112240"/>
          </a:solidFill>
          <a:ln w="12700">
            <a:solidFill>
              <a:srgbClr val="0099B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05840"/>
            <a:ext cx="1389888" cy="73152"/>
          </a:xfrm>
          <a:prstGeom prst="rect">
            <a:avLst/>
          </a:prstGeom>
          <a:solidFill>
            <a:srgbClr val="0099BB"/>
          </a:solidFill>
          <a:ln w="12700">
            <a:solidFill>
              <a:srgbClr val="0099B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143000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74320" y="160934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" y="1956816"/>
            <a:ext cx="1298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&amp; validate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event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719072" y="1965960"/>
            <a:ext cx="201168" cy="0"/>
          </a:xfrm>
          <a:prstGeom prst="line">
            <a:avLst/>
          </a:prstGeom>
          <a:noFill/>
          <a:ln w="19050">
            <a:solidFill>
              <a:srgbClr val="6B8CA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856232" y="1865376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975104" y="1005840"/>
            <a:ext cx="1389888" cy="1920240"/>
          </a:xfrm>
          <a:prstGeom prst="rect">
            <a:avLst/>
          </a:prstGeom>
          <a:solidFill>
            <a:srgbClr val="112240"/>
          </a:solidFill>
          <a:ln w="12700">
            <a:solidFill>
              <a:srgbClr val="00E67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975104" y="1005840"/>
            <a:ext cx="1389888" cy="73152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592" y="1143000"/>
            <a:ext cx="438912" cy="43891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975104" y="160934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2020824" y="1956816"/>
            <a:ext cx="1298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probability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3419856" y="1965960"/>
            <a:ext cx="201168" cy="0"/>
          </a:xfrm>
          <a:prstGeom prst="line">
            <a:avLst/>
          </a:prstGeom>
          <a:noFill/>
          <a:ln w="19050">
            <a:solidFill>
              <a:srgbClr val="6B8CAE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557016" y="1865376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675888" y="1005840"/>
            <a:ext cx="1389888" cy="1920240"/>
          </a:xfrm>
          <a:prstGeom prst="rect">
            <a:avLst/>
          </a:prstGeom>
          <a:solidFill>
            <a:srgbClr val="112240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675888" y="1005840"/>
            <a:ext cx="1389888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1376" y="1143000"/>
            <a:ext cx="438912" cy="43891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675888" y="160934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3721608" y="1956816"/>
            <a:ext cx="1298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Network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P(threat)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5120640" y="1965960"/>
            <a:ext cx="201168" cy="0"/>
          </a:xfrm>
          <a:prstGeom prst="line">
            <a:avLst/>
          </a:prstGeom>
          <a:noFill/>
          <a:ln w="19050">
            <a:solidFill>
              <a:srgbClr val="6B8CAE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5257800" y="1865376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5376672" y="1005840"/>
            <a:ext cx="1389888" cy="1920240"/>
          </a:xfrm>
          <a:prstGeom prst="rect">
            <a:avLst/>
          </a:prstGeom>
          <a:solidFill>
            <a:srgbClr val="112240"/>
          </a:solidFill>
          <a:ln w="12700">
            <a:solidFill>
              <a:srgbClr val="FFD16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5376672" y="1005840"/>
            <a:ext cx="1389888" cy="7315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143000"/>
            <a:ext cx="438912" cy="43891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5376672" y="160934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5422392" y="1956816"/>
            <a:ext cx="1298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policy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safeguards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6821424" y="1965960"/>
            <a:ext cx="201168" cy="0"/>
          </a:xfrm>
          <a:prstGeom prst="line">
            <a:avLst/>
          </a:prstGeom>
          <a:noFill/>
          <a:ln w="19050">
            <a:solidFill>
              <a:srgbClr val="6B8CAE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958584" y="1865376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34" name="Shape 28"/>
          <p:cNvSpPr/>
          <p:nvPr/>
        </p:nvSpPr>
        <p:spPr>
          <a:xfrm>
            <a:off x="7077456" y="1005840"/>
            <a:ext cx="1389888" cy="1920240"/>
          </a:xfrm>
          <a:prstGeom prst="rect">
            <a:avLst/>
          </a:prstGeom>
          <a:solidFill>
            <a:srgbClr val="112240"/>
          </a:solidFill>
          <a:ln w="12700">
            <a:solidFill>
              <a:srgbClr val="FF3D5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7077456" y="1005840"/>
            <a:ext cx="1389888" cy="73152"/>
          </a:xfrm>
          <a:prstGeom prst="rect">
            <a:avLst/>
          </a:prstGeom>
          <a:solidFill>
            <a:srgbClr val="FF3D57"/>
          </a:solidFill>
          <a:ln w="12700">
            <a:solidFill>
              <a:srgbClr val="FF3D57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2944" y="1143000"/>
            <a:ext cx="438912" cy="438912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077456" y="160934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7123176" y="1956816"/>
            <a:ext cx="1298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 ALERT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/ IGNORE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320040" y="3127248"/>
            <a:ext cx="8503920" cy="1627632"/>
          </a:xfrm>
          <a:prstGeom prst="rect">
            <a:avLst/>
          </a:prstGeom>
          <a:solidFill>
            <a:srgbClr val="0D1B36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502920" y="32186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Network Detail</a:t>
            </a:r>
            <a:endParaRPr lang="en-US" sz="1100" dirty="0"/>
          </a:p>
        </p:txBody>
      </p:sp>
      <p:sp>
        <p:nvSpPr>
          <p:cNvPr id="41" name="Text 34"/>
          <p:cNvSpPr/>
          <p:nvPr/>
        </p:nvSpPr>
        <p:spPr>
          <a:xfrm>
            <a:off x="502920" y="3547872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Prior: </a:t>
            </a:r>
            <a:pPr indent="0" marL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P(HIGH_RISK | ip_risk, off_hours)  encoded as expert CPT
</a:t>
            </a:r>
            <a:pPr indent="0" marL="0">
              <a:buNone/>
            </a:pPr>
            <a:r>
              <a:rPr lang="en-US" sz="10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Likelihood: </a:t>
            </a:r>
            <a:pPr indent="0" marL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P(ML fires | HIGH_RISK)=0.92,  P(ML fires | LOW_RISK)=0.08
</a:t>
            </a:r>
            <a:pPr indent="0" marL="0">
              <a:buNone/>
            </a:pPr>
            <a:r>
              <a:rPr lang="en-US" sz="10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Posterior: </a:t>
            </a:r>
            <a:pPr indent="0" marL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P(threat | ML signal, context) via Bayes' theorem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0" y="164592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0E3460"/>
          </a:solidFill>
          <a:ln w="12700">
            <a:solidFill>
              <a:srgbClr val="0099B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64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&amp; Safeguards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2004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ACTION POLICY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80160"/>
            <a:ext cx="4114800" cy="713232"/>
          </a:xfrm>
          <a:prstGeom prst="rect">
            <a:avLst/>
          </a:prstGeom>
          <a:solidFill>
            <a:srgbClr val="112240"/>
          </a:solidFill>
          <a:ln w="12700">
            <a:solidFill>
              <a:srgbClr val="FF3D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280160"/>
            <a:ext cx="64008" cy="713232"/>
          </a:xfrm>
          <a:prstGeom prst="rect">
            <a:avLst/>
          </a:prstGeom>
          <a:solidFill>
            <a:srgbClr val="FF3D57"/>
          </a:solidFill>
          <a:ln w="12700">
            <a:solidFill>
              <a:srgbClr val="FF3D57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417320"/>
            <a:ext cx="411480" cy="411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05840" y="133502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3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BLOCK_IP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0584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≥ 0.85  ·  CRITICAL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0040" y="2130552"/>
            <a:ext cx="4114800" cy="713232"/>
          </a:xfrm>
          <a:prstGeom prst="rect">
            <a:avLst/>
          </a:prstGeom>
          <a:solidFill>
            <a:srgbClr val="112240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" y="2130552"/>
            <a:ext cx="64008" cy="71323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267712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05840" y="218541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ALERT_ADMIN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1005840" y="2496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0.65–0.84  ·  HIGH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320040" y="2980944"/>
            <a:ext cx="4114800" cy="713232"/>
          </a:xfrm>
          <a:prstGeom prst="rect">
            <a:avLst/>
          </a:prstGeom>
          <a:solidFill>
            <a:srgbClr val="11224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20040" y="2980944"/>
            <a:ext cx="64008" cy="71323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3118104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05840" y="30358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005840" y="3346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0.40–0.64  ·  MEDIUM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320040" y="3831336"/>
            <a:ext cx="4114800" cy="713232"/>
          </a:xfrm>
          <a:prstGeom prst="rect">
            <a:avLst/>
          </a:prstGeom>
          <a:solidFill>
            <a:srgbClr val="112240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20040" y="3831336"/>
            <a:ext cx="64008" cy="713232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968496"/>
            <a:ext cx="411480" cy="4114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05840" y="3886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1005840" y="41970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&lt; 0.40  ·  LOW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470916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BUILT-IN SAFEGUARDS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709160" y="1280160"/>
            <a:ext cx="4114800" cy="749808"/>
          </a:xfrm>
          <a:prstGeom prst="rect">
            <a:avLst/>
          </a:prstGeom>
          <a:solidFill>
            <a:srgbClr val="112240"/>
          </a:solidFill>
          <a:ln w="12700">
            <a:solidFill>
              <a:srgbClr val="0099BB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773168" y="1417320"/>
            <a:ext cx="438912" cy="438912"/>
          </a:xfrm>
          <a:prstGeom prst="ellipse">
            <a:avLst/>
          </a:prstGeom>
          <a:solidFill>
            <a:srgbClr val="0E3460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73168" y="1417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5340096" y="134416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340096" y="16459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Rejects malformed / out-of-range log entries before any model sees them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4709160" y="2148840"/>
            <a:ext cx="4114800" cy="749808"/>
          </a:xfrm>
          <a:prstGeom prst="rect">
            <a:avLst/>
          </a:prstGeom>
          <a:solidFill>
            <a:srgbClr val="112240"/>
          </a:solidFill>
          <a:ln w="12700">
            <a:solidFill>
              <a:srgbClr val="0099BB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4773168" y="2286000"/>
            <a:ext cx="438912" cy="438912"/>
          </a:xfrm>
          <a:prstGeom prst="ellipse">
            <a:avLst/>
          </a:prstGeom>
          <a:solidFill>
            <a:srgbClr val="0E3460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773168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36" name="Text 30"/>
          <p:cNvSpPr/>
          <p:nvPr/>
        </p:nvSpPr>
        <p:spPr>
          <a:xfrm>
            <a:off x="5340096" y="2212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Thresholding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5340096" y="25146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Auto-block only at &gt;0.85 posterior; ambiguous cases escalate to humans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4709160" y="3017520"/>
            <a:ext cx="4114800" cy="749808"/>
          </a:xfrm>
          <a:prstGeom prst="rect">
            <a:avLst/>
          </a:prstGeom>
          <a:solidFill>
            <a:srgbClr val="112240"/>
          </a:solidFill>
          <a:ln w="12700">
            <a:solidFill>
              <a:srgbClr val="0099BB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4773168" y="3154680"/>
            <a:ext cx="438912" cy="438912"/>
          </a:xfrm>
          <a:prstGeom prst="ellipse">
            <a:avLst/>
          </a:prstGeom>
          <a:solidFill>
            <a:srgbClr val="0E3460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4773168" y="3154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41" name="Text 35"/>
          <p:cNvSpPr/>
          <p:nvPr/>
        </p:nvSpPr>
        <p:spPr>
          <a:xfrm>
            <a:off x="5340096" y="308152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100" dirty="0"/>
          </a:p>
        </p:txBody>
      </p:sp>
      <p:sp>
        <p:nvSpPr>
          <p:cNvPr id="42" name="Text 36"/>
          <p:cNvSpPr/>
          <p:nvPr/>
        </p:nvSpPr>
        <p:spPr>
          <a:xfrm>
            <a:off x="5340096" y="33832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autonomous BLOCK_IP at 50/session to prevent runaway blocking</a:t>
            </a:r>
            <a:endParaRPr lang="en-US" sz="950" dirty="0"/>
          </a:p>
        </p:txBody>
      </p:sp>
      <p:sp>
        <p:nvSpPr>
          <p:cNvPr id="43" name="Shape 37"/>
          <p:cNvSpPr/>
          <p:nvPr/>
        </p:nvSpPr>
        <p:spPr>
          <a:xfrm>
            <a:off x="4709160" y="3886200"/>
            <a:ext cx="4114800" cy="749808"/>
          </a:xfrm>
          <a:prstGeom prst="rect">
            <a:avLst/>
          </a:prstGeom>
          <a:solidFill>
            <a:srgbClr val="112240"/>
          </a:solidFill>
          <a:ln w="12700">
            <a:solidFill>
              <a:srgbClr val="0099BB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4773168" y="4023360"/>
            <a:ext cx="438912" cy="438912"/>
          </a:xfrm>
          <a:prstGeom prst="ellipse">
            <a:avLst/>
          </a:prstGeom>
          <a:solidFill>
            <a:srgbClr val="0E3460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4773168" y="4023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46" name="Text 40"/>
          <p:cNvSpPr/>
          <p:nvPr/>
        </p:nvSpPr>
        <p:spPr>
          <a:xfrm>
            <a:off x="5340096" y="39502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Memory</a:t>
            </a:r>
            <a:endParaRPr lang="en-US" sz="1100" dirty="0"/>
          </a:p>
        </p:txBody>
      </p:sp>
      <p:sp>
        <p:nvSpPr>
          <p:cNvPr id="47" name="Text 41"/>
          <p:cNvSpPr/>
          <p:nvPr/>
        </p:nvSpPr>
        <p:spPr>
          <a:xfrm>
            <a:off x="5340096" y="42519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decision log: ML prob, posterior, and action — for post-incident review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0" y="164592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0E3460"/>
          </a:solidFill>
          <a:ln w="12700">
            <a:solidFill>
              <a:srgbClr val="0099B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64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182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11480" y="6858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src/run_agent.py --mode simulate --events 30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8503920" cy="2852928"/>
          </a:xfrm>
          <a:prstGeom prst="rect">
            <a:avLst/>
          </a:prstGeom>
          <a:solidFill>
            <a:srgbClr val="0A0E1A"/>
          </a:solidFill>
          <a:ln w="12700">
            <a:solidFill>
              <a:srgbClr val="0E34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078992"/>
            <a:ext cx="8503920" cy="292608"/>
          </a:xfrm>
          <a:prstGeom prst="rect">
            <a:avLst/>
          </a:prstGeom>
          <a:solidFill>
            <a:srgbClr val="1A2035"/>
          </a:solidFill>
          <a:ln w="12700">
            <a:solidFill>
              <a:srgbClr val="1A20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161288"/>
            <a:ext cx="128016" cy="128016"/>
          </a:xfrm>
          <a:prstGeom prst="ellipse">
            <a:avLst/>
          </a:prstGeom>
          <a:solidFill>
            <a:srgbClr val="FF3D57"/>
          </a:solidFill>
          <a:ln w="12700">
            <a:solidFill>
              <a:srgbClr val="FF3D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1161288"/>
            <a:ext cx="128016" cy="128016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1161288"/>
            <a:ext cx="128016" cy="128016"/>
          </a:xfrm>
          <a:prstGeom prst="ellipse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11155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— run_agent.py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57200" y="1417320"/>
            <a:ext cx="8229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8C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[run_agent] Simulation mode — 30 synthetic events
</a:t>
            </a:r>
            <a:pPr indent="0" marL="0">
              <a:buNone/>
            </a:pPr>
            <a:r>
              <a:rPr lang="en-US" sz="950" dirty="0">
                <a:solidFill>
                  <a:srgbClr val="FF3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 01 [ATTACK:brute_force]   →  BLOCK_IP        (posterior=0.91)
</a:t>
            </a:r>
            <a:pPr indent="0" marL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 02 [benign]               →  IGNORE          (posterior=0.08)
</a:t>
            </a:r>
            <a:pPr indent="0" marL="0">
              <a:buNone/>
            </a:pPr>
            <a:r>
              <a:rPr lang="en-US" sz="950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 05 [ATTACK:port_scan]     →  ALERT_ADMIN     (posterior=0.72)
</a:t>
            </a:r>
            <a:pPr indent="0" marL="0">
              <a:buNone/>
            </a:pPr>
            <a:r>
              <a:rPr lang="en-US" sz="950" dirty="0">
                <a:solidFill>
                  <a:srgbClr val="FF3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 09 [ATTACK:data_exfil]    →  BLOCK_IP        (posterior=0.88)
</a:t>
            </a:r>
            <a:pPr indent="0" marL="0">
              <a:buNone/>
            </a:pPr>
            <a:r>
              <a:rPr lang="en-US" sz="9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 13 [ATTACK:brute_force]   →  INVESTIGATE     (posterior=0.54)
</a:t>
            </a:r>
            <a:pPr indent="0" marL="0">
              <a:buNone/>
            </a:pPr>
            <a:r>
              <a:rPr lang="en-US" sz="950" dirty="0">
                <a:solidFill>
                  <a:srgbClr val="6B8C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
</a:t>
            </a:r>
            <a:pPr indent="0" marL="0">
              <a:buNone/>
            </a:pPr>
            <a:r>
              <a:rPr lang="en-US" sz="950" dirty="0">
                <a:solidFill>
                  <a:srgbClr val="00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 Agent Session Summary ──────────────────────────
</a:t>
            </a:r>
            <a:pPr indent="0" marL="0">
              <a:buNone/>
            </a:pPr>
            <a:r>
              <a:rPr lang="en-US" sz="950" dirty="0">
                <a:solidFill>
                  <a:srgbClr val="E8F0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events processed : 30    BLOCK_IP: 5   ALERT_ADMIN: 3   IGNORE: 20   INVESTIGATE: 2
</a:t>
            </a:r>
            <a:pPr indent="0" marL="0">
              <a:buNone/>
            </a:pPr>
            <a:r>
              <a:rPr lang="en-US" sz="950" dirty="0">
                <a:solidFill>
                  <a:srgbClr val="6B8C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Autonomous blocks issued: 5 / 50
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4041648"/>
            <a:ext cx="2011680" cy="960120"/>
          </a:xfrm>
          <a:prstGeom prst="rect">
            <a:avLst/>
          </a:prstGeom>
          <a:solidFill>
            <a:srgbClr val="112240"/>
          </a:solidFill>
          <a:ln w="12700">
            <a:solidFill>
              <a:srgbClr val="00E67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0040" y="40782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20040" y="4526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96312" y="4041648"/>
            <a:ext cx="2011680" cy="960120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96312" y="40782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2496312" y="4526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72584" y="4041648"/>
            <a:ext cx="2011680" cy="960120"/>
          </a:xfrm>
          <a:prstGeom prst="rect">
            <a:avLst/>
          </a:prstGeom>
          <a:solidFill>
            <a:srgbClr val="112240"/>
          </a:solidFill>
          <a:ln w="12700">
            <a:solidFill>
              <a:srgbClr val="FFD16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672584" y="40782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672584" y="4526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False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Positives vs baseline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48856" y="4041648"/>
            <a:ext cx="2011680" cy="960120"/>
          </a:xfrm>
          <a:prstGeom prst="rect">
            <a:avLst/>
          </a:prstGeom>
          <a:solidFill>
            <a:srgbClr val="112240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848856" y="40782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848856" y="4526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Safeguards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0" y="164592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0E3460"/>
          </a:solidFill>
          <a:ln w="12700">
            <a:solidFill>
              <a:srgbClr val="0099B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64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Future Work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ACHIEVED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43584"/>
            <a:ext cx="4114800" cy="475488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3167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566160" y="1316736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773936"/>
            <a:ext cx="4114800" cy="475488"/>
          </a:xfrm>
          <a:prstGeom prst="rect">
            <a:avLst/>
          </a:prstGeom>
          <a:solidFill>
            <a:srgbClr val="0D1B36"/>
          </a:solidFill>
          <a:ln w="12700">
            <a:solidFill>
              <a:srgbClr val="0D1B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184708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566160" y="1847088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304288"/>
            <a:ext cx="4114800" cy="475488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237744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(attack class)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566160" y="2377440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~93%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834640"/>
            <a:ext cx="4114800" cy="475488"/>
          </a:xfrm>
          <a:prstGeom prst="rect">
            <a:avLst/>
          </a:prstGeom>
          <a:solidFill>
            <a:srgbClr val="0D1B36"/>
          </a:solidFill>
          <a:ln w="12700">
            <a:solidFill>
              <a:srgbClr val="0D1B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290779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(attack class)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66160" y="2907792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~94%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3364992"/>
            <a:ext cx="4114800" cy="475488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" y="34381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reduction vs baseline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566160" y="3438144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3895344"/>
            <a:ext cx="4114800" cy="475488"/>
          </a:xfrm>
          <a:prstGeom prst="rect">
            <a:avLst/>
          </a:prstGeom>
          <a:solidFill>
            <a:srgbClr val="0D1B36"/>
          </a:solidFill>
          <a:ln w="12700">
            <a:solidFill>
              <a:srgbClr val="0D1B3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" y="396849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Safeguards implemented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566160" y="3968496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0916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09160" y="1243584"/>
            <a:ext cx="4114800" cy="768096"/>
          </a:xfrm>
          <a:prstGeom prst="rect">
            <a:avLst/>
          </a:prstGeom>
          <a:solidFill>
            <a:srgbClr val="112240"/>
          </a:solidFill>
          <a:ln w="12700">
            <a:solidFill>
              <a:srgbClr val="0E3460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8888" y="1408176"/>
            <a:ext cx="384048" cy="38404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5330952" y="1335024"/>
            <a:ext cx="3401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/ Transformer for sequential attack pattern detection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709160" y="2139696"/>
            <a:ext cx="4114800" cy="768096"/>
          </a:xfrm>
          <a:prstGeom prst="rect">
            <a:avLst/>
          </a:prstGeom>
          <a:solidFill>
            <a:srgbClr val="112240"/>
          </a:solidFill>
          <a:ln w="12700">
            <a:solidFill>
              <a:srgbClr val="0E3460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304288"/>
            <a:ext cx="384048" cy="38404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330952" y="2231136"/>
            <a:ext cx="3401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policy trained from analyst feedback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4709160" y="3035808"/>
            <a:ext cx="4114800" cy="768096"/>
          </a:xfrm>
          <a:prstGeom prst="rect">
            <a:avLst/>
          </a:prstGeom>
          <a:solidFill>
            <a:srgbClr val="112240"/>
          </a:solidFill>
          <a:ln w="12700">
            <a:solidFill>
              <a:srgbClr val="0E3460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8" y="3200400"/>
            <a:ext cx="384048" cy="384048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5330952" y="3127248"/>
            <a:ext cx="3401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integration for natural-language threat explanations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4709160" y="3931920"/>
            <a:ext cx="4114800" cy="768096"/>
          </a:xfrm>
          <a:prstGeom prst="rect">
            <a:avLst/>
          </a:prstGeom>
          <a:solidFill>
            <a:srgbClr val="112240"/>
          </a:solidFill>
          <a:ln w="12700">
            <a:solidFill>
              <a:srgbClr val="0E3460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4096512"/>
            <a:ext cx="384048" cy="384048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5330952" y="4023360"/>
            <a:ext cx="3401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+ SIEM platform integration</a:t>
            </a:r>
            <a:endParaRPr lang="en-US" sz="1050" dirty="0"/>
          </a:p>
        </p:txBody>
      </p:sp>
      <p:sp>
        <p:nvSpPr>
          <p:cNvPr id="38" name="Shape 32"/>
          <p:cNvSpPr/>
          <p:nvPr/>
        </p:nvSpPr>
        <p:spPr>
          <a:xfrm>
            <a:off x="320040" y="4645152"/>
            <a:ext cx="8503920" cy="384048"/>
          </a:xfrm>
          <a:prstGeom prst="rect">
            <a:avLst/>
          </a:prstGeom>
          <a:solidFill>
            <a:srgbClr val="0E3460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320040" y="4645152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 →  Reasoning  →  Action  |  github.com/franklinen/AI-Security-Monitoring-Agent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Security Monitoring Agent</dc:title>
  <dc:subject>PptxGenJS Presentation</dc:subject>
  <dc:creator>PptxGenJS</dc:creator>
  <cp:lastModifiedBy>PptxGenJS</cp:lastModifiedBy>
  <cp:revision>1</cp:revision>
  <dcterms:created xsi:type="dcterms:W3CDTF">2026-03-24T01:08:32Z</dcterms:created>
  <dcterms:modified xsi:type="dcterms:W3CDTF">2026-03-24T01:08:32Z</dcterms:modified>
</cp:coreProperties>
</file>